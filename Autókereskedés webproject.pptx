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LSUkISFC1HvEGMymi/P6ztQaC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1ac653c9fd7d25b5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h1ac653c9fd7d25b5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h47ac104994d7c23d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h47ac104994d7c23d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dia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ickwork-HD-R1a.jpg" id="17" name="Google Shape;1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9"/>
          <p:cNvSpPr/>
          <p:nvPr/>
        </p:nvSpPr>
        <p:spPr>
          <a:xfrm>
            <a:off x="-15875" y="0"/>
            <a:ext cx="11683810" cy="6588125"/>
          </a:xfrm>
          <a:custGeom>
            <a:rect b="b" l="l" r="r" t="t"/>
            <a:pathLst>
              <a:path extrusionOk="0" h="6588125" w="11683810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01600" rotWithShape="0" algn="tl" dir="4380000" dist="152400">
              <a:srgbClr val="000000">
                <a:alpha val="4313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9"/>
          <p:cNvSpPr/>
          <p:nvPr/>
        </p:nvSpPr>
        <p:spPr>
          <a:xfrm>
            <a:off x="0" y="4282257"/>
            <a:ext cx="11329257" cy="2028845"/>
          </a:xfrm>
          <a:custGeom>
            <a:rect b="b" l="l" r="r" t="t"/>
            <a:pathLst>
              <a:path extrusionOk="0" h="2028845" w="11329257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34000">
                <a:schemeClr val="accent1"/>
              </a:gs>
              <a:gs pos="100000">
                <a:srgbClr val="5C070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sp>
      <p:sp>
        <p:nvSpPr>
          <p:cNvPr id="20" name="Google Shape;20;p9"/>
          <p:cNvSpPr/>
          <p:nvPr/>
        </p:nvSpPr>
        <p:spPr>
          <a:xfrm>
            <a:off x="0" y="0"/>
            <a:ext cx="8719579" cy="456877"/>
          </a:xfrm>
          <a:custGeom>
            <a:rect b="b" l="l" r="r" t="t"/>
            <a:pathLst>
              <a:path extrusionOk="0" h="456877" w="8719579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34000">
                <a:schemeClr val="accent1"/>
              </a:gs>
              <a:gs pos="100000">
                <a:srgbClr val="5C070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sp>
      <p:sp>
        <p:nvSpPr>
          <p:cNvPr id="21" name="Google Shape;21;p9"/>
          <p:cNvSpPr/>
          <p:nvPr/>
        </p:nvSpPr>
        <p:spPr>
          <a:xfrm rot="-180000">
            <a:off x="-161800" y="293317"/>
            <a:ext cx="11367116" cy="5751804"/>
          </a:xfrm>
          <a:custGeom>
            <a:rect b="b" l="l" r="r" t="t"/>
            <a:pathLst>
              <a:path extrusionOk="0" h="5751804" w="11367116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noFill/>
          <a:ln cap="flat" cmpd="sng" w="82550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9"/>
          <p:cNvSpPr txBox="1"/>
          <p:nvPr>
            <p:ph type="ctrTitle"/>
          </p:nvPr>
        </p:nvSpPr>
        <p:spPr>
          <a:xfrm rot="-180000">
            <a:off x="891201" y="662656"/>
            <a:ext cx="9755187" cy="27665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Impact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subTitle"/>
          </p:nvPr>
        </p:nvSpPr>
        <p:spPr>
          <a:xfrm rot="-180000">
            <a:off x="983062" y="3505209"/>
            <a:ext cx="9755187" cy="550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4480"/>
              <a:buNone/>
              <a:defRPr sz="28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sz="1600"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 rot="-180000">
            <a:off x="4948541" y="4578463"/>
            <a:ext cx="6143653" cy="1163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>
                <a:solidFill>
                  <a:srgbClr val="5C070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 rot="-180000">
            <a:off x="-5560" y="4883024"/>
            <a:ext cx="4047239" cy="1195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 rot="-180000">
            <a:off x="9851758" y="3832648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3F3F3F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  <p:sp>
        <p:nvSpPr>
          <p:cNvPr id="27" name="Google Shape;27;p9"/>
          <p:cNvSpPr/>
          <p:nvPr/>
        </p:nvSpPr>
        <p:spPr>
          <a:xfrm rot="-180000">
            <a:off x="4221385" y="5111356"/>
            <a:ext cx="515386" cy="515386"/>
          </a:xfrm>
          <a:prstGeom prst="star5">
            <a:avLst>
              <a:gd fmla="val 26693" name="adj"/>
              <a:gd fmla="val 105146" name="hf"/>
              <a:gd fmla="val 110557" name="vf"/>
            </a:avLst>
          </a:prstGeom>
          <a:solidFill>
            <a:schemeClr val="dk1">
              <a:alpha val="4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ím és tartalom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80"/>
              <a:buChar char="•"/>
              <a:defRPr/>
            </a:lvl1pPr>
            <a:lvl2pPr indent="-41148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2pPr>
            <a:lvl3pPr indent="-41148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3pPr>
            <a:lvl4pPr indent="-41148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4pPr>
            <a:lvl5pPr indent="-41148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5pPr>
            <a:lvl6pPr indent="-41148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6pPr>
            <a:lvl7pPr indent="-41148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7pPr>
            <a:lvl8pPr indent="-41148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8pPr>
            <a:lvl9pPr indent="-41148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0" type="dt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1" type="ftr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sak cím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/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0" type="dt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1" type="ftr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2" type="sldNum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tartalom">
  <p:cSld name="Cím és tartalom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/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" type="body"/>
          </p:nvPr>
        </p:nvSpPr>
        <p:spPr>
          <a:xfrm>
            <a:off x="685800" y="2063396"/>
            <a:ext cx="10394707" cy="3311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80"/>
              <a:buChar char="•"/>
              <a:defRPr/>
            </a:lvl1pPr>
            <a:lvl2pPr indent="-41148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2pPr>
            <a:lvl3pPr indent="-41148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3pPr>
            <a:lvl4pPr indent="-41148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4pPr>
            <a:lvl5pPr indent="-41148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5pPr>
            <a:lvl6pPr indent="-41148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6pPr>
            <a:lvl7pPr indent="-41148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7pPr>
            <a:lvl8pPr indent="-41148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8pPr>
            <a:lvl9pPr indent="-41148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zakaszfejléc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685801" y="685800"/>
            <a:ext cx="10394707" cy="3193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Impact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685801" y="3742267"/>
            <a:ext cx="10394707" cy="1639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12"/>
          <p:cNvSpPr txBox="1"/>
          <p:nvPr>
            <p:ph idx="10" type="dt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1" type="ftr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artalomrész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685801" y="685800"/>
            <a:ext cx="10396882" cy="1158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685800" y="2063396"/>
            <a:ext cx="5088714" cy="331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80"/>
              <a:buChar char="•"/>
              <a:defRPr/>
            </a:lvl1pPr>
            <a:lvl2pPr indent="-41148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2pPr>
            <a:lvl3pPr indent="-41148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3pPr>
            <a:lvl4pPr indent="-41148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4pPr>
            <a:lvl5pPr indent="-41148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5pPr>
            <a:lvl6pPr indent="-41148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6pPr>
            <a:lvl7pPr indent="-41148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7pPr>
            <a:lvl8pPr indent="-41148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8pPr>
            <a:lvl9pPr indent="-41148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5993971" y="2063396"/>
            <a:ext cx="5086538" cy="331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80"/>
              <a:buChar char="•"/>
              <a:defRPr/>
            </a:lvl1pPr>
            <a:lvl2pPr indent="-41148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2pPr>
            <a:lvl3pPr indent="-41148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3pPr>
            <a:lvl4pPr indent="-41148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4pPr>
            <a:lvl5pPr indent="-41148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5pPr>
            <a:lvl6pPr indent="-41148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6pPr>
            <a:lvl7pPr indent="-41148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7pPr>
            <a:lvl8pPr indent="-41148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8pPr>
            <a:lvl9pPr indent="-41148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Összehasonlítás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685801" y="685800"/>
            <a:ext cx="10394707" cy="1158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918356" y="2063396"/>
            <a:ext cx="4856158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160"/>
              <a:buNone/>
              <a:defRPr b="0" sz="26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685802" y="2861733"/>
            <a:ext cx="5088712" cy="2512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80"/>
              <a:buChar char="•"/>
              <a:defRPr/>
            </a:lvl1pPr>
            <a:lvl2pPr indent="-41148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2pPr>
            <a:lvl3pPr indent="-41148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3pPr>
            <a:lvl4pPr indent="-41148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4pPr>
            <a:lvl5pPr indent="-41148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5pPr>
            <a:lvl6pPr indent="-41148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6pPr>
            <a:lvl7pPr indent="-41148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7pPr>
            <a:lvl8pPr indent="-41148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8pPr>
            <a:lvl9pPr indent="-41148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3" type="body"/>
          </p:nvPr>
        </p:nvSpPr>
        <p:spPr>
          <a:xfrm>
            <a:off x="6218191" y="2063396"/>
            <a:ext cx="4864491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160"/>
              <a:buNone/>
              <a:defRPr b="0" sz="26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9pPr>
          </a:lstStyle>
          <a:p/>
        </p:txBody>
      </p:sp>
      <p:sp>
        <p:nvSpPr>
          <p:cNvPr id="63" name="Google Shape;63;p14"/>
          <p:cNvSpPr txBox="1"/>
          <p:nvPr>
            <p:ph idx="4" type="body"/>
          </p:nvPr>
        </p:nvSpPr>
        <p:spPr>
          <a:xfrm>
            <a:off x="5993969" y="2861733"/>
            <a:ext cx="5088713" cy="2512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80"/>
              <a:buChar char="•"/>
              <a:defRPr/>
            </a:lvl1pPr>
            <a:lvl2pPr indent="-41148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2pPr>
            <a:lvl3pPr indent="-41148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3pPr>
            <a:lvl4pPr indent="-41148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4pPr>
            <a:lvl5pPr indent="-41148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5pPr>
            <a:lvl6pPr indent="-41148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6pPr>
            <a:lvl7pPr indent="-41148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7pPr>
            <a:lvl8pPr indent="-41148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8pPr>
            <a:lvl9pPr indent="-41148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0" type="dt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1" type="ftr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Üres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idx="10" type="dt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1" type="ftr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talomrész képaláírással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693643" y="685800"/>
            <a:ext cx="4126860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mpact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5046132" y="685800"/>
            <a:ext cx="6034375" cy="4688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80"/>
              <a:buChar char="•"/>
              <a:defRPr/>
            </a:lvl1pPr>
            <a:lvl2pPr indent="-41148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2pPr>
            <a:lvl3pPr indent="-41148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3pPr>
            <a:lvl4pPr indent="-41148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4pPr>
            <a:lvl5pPr indent="-41148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5pPr>
            <a:lvl6pPr indent="-41148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6pPr>
            <a:lvl7pPr indent="-41148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7pPr>
            <a:lvl8pPr indent="-41148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8pPr>
            <a:lvl9pPr indent="-41148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2" type="body"/>
          </p:nvPr>
        </p:nvSpPr>
        <p:spPr>
          <a:xfrm>
            <a:off x="693642" y="2709052"/>
            <a:ext cx="4126861" cy="26655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2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ép képaláírással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85800" y="685800"/>
            <a:ext cx="6345302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mpact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/>
          <p:nvPr>
            <p:ph idx="2" type="pic"/>
          </p:nvPr>
        </p:nvSpPr>
        <p:spPr>
          <a:xfrm>
            <a:off x="7482362" y="0"/>
            <a:ext cx="3598146" cy="5071533"/>
          </a:xfrm>
          <a:prstGeom prst="rect">
            <a:avLst/>
          </a:prstGeom>
          <a:noFill/>
          <a:ln cap="flat" cmpd="thinThick" w="57150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685801" y="2709052"/>
            <a:ext cx="6345301" cy="2362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2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ámakép képaláírással">
  <p:cSld name="Panorámakép képaláírással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85800" y="4106333"/>
            <a:ext cx="10394708" cy="5888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mpact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/>
          <p:nvPr>
            <p:ph idx="2" type="pic"/>
          </p:nvPr>
        </p:nvSpPr>
        <p:spPr>
          <a:xfrm>
            <a:off x="685801" y="685799"/>
            <a:ext cx="10392513" cy="3194903"/>
          </a:xfrm>
          <a:prstGeom prst="rect">
            <a:avLst/>
          </a:prstGeom>
          <a:noFill/>
          <a:ln cap="flat" cmpd="thinThick" w="57150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685780" y="4702923"/>
            <a:ext cx="10394728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56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2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9pPr>
          </a:lstStyle>
          <a:p/>
        </p:txBody>
      </p:sp>
      <p:sp>
        <p:nvSpPr>
          <p:cNvPr id="89" name="Google Shape;89;p19"/>
          <p:cNvSpPr txBox="1"/>
          <p:nvPr>
            <p:ph idx="10" type="dt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képaláírás">
  <p:cSld name="Cím és képaláírá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685801" y="685800"/>
            <a:ext cx="10396902" cy="31949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mpact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685779" y="4106333"/>
            <a:ext cx="10394729" cy="12736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2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9pPr>
          </a:lstStyle>
          <a:p/>
        </p:txBody>
      </p:sp>
      <p:sp>
        <p:nvSpPr>
          <p:cNvPr id="95" name="Google Shape;95;p20"/>
          <p:cNvSpPr txBox="1"/>
          <p:nvPr>
            <p:ph idx="10" type="dt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2" type="sldNum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ézet képaláírással">
  <p:cSld name="Idézet képaláírással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title"/>
          </p:nvPr>
        </p:nvSpPr>
        <p:spPr>
          <a:xfrm>
            <a:off x="1121732" y="685800"/>
            <a:ext cx="9525020" cy="2916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mpact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1550264" y="3610032"/>
            <a:ext cx="8667956" cy="377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1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2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9pPr>
          </a:lstStyle>
          <a:p/>
        </p:txBody>
      </p:sp>
      <p:sp>
        <p:nvSpPr>
          <p:cNvPr id="101" name="Google Shape;101;p21"/>
          <p:cNvSpPr txBox="1"/>
          <p:nvPr>
            <p:ph idx="2" type="body"/>
          </p:nvPr>
        </p:nvSpPr>
        <p:spPr>
          <a:xfrm>
            <a:off x="685801" y="4106334"/>
            <a:ext cx="10396882" cy="1268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2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10" type="dt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  <p:sp>
        <p:nvSpPr>
          <p:cNvPr id="105" name="Google Shape;105;p21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Impact"/>
              <a:buNone/>
            </a:pPr>
            <a:r>
              <a:rPr b="0" i="0" lang="hu-HU" sz="80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Impact"/>
              <a:buNone/>
            </a:pPr>
            <a:r>
              <a:rPr b="0" i="0" lang="hu-HU" sz="80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évkártya">
  <p:cSld name="Névkártya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85800" y="1723854"/>
            <a:ext cx="10394707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Impact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85800" y="4247468"/>
            <a:ext cx="10394707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2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hasáb">
  <p:cSld name="3 hasáb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85802" y="685800"/>
            <a:ext cx="10394706" cy="1151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Impac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685802" y="2063395"/>
            <a:ext cx="33101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84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9pPr>
          </a:lstStyle>
          <a:p/>
        </p:txBody>
      </p:sp>
      <p:sp>
        <p:nvSpPr>
          <p:cNvPr id="116" name="Google Shape;116;p23"/>
          <p:cNvSpPr txBox="1"/>
          <p:nvPr>
            <p:ph idx="2" type="body"/>
          </p:nvPr>
        </p:nvSpPr>
        <p:spPr>
          <a:xfrm>
            <a:off x="685802" y="2639658"/>
            <a:ext cx="3310128" cy="2734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2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9pPr>
          </a:lstStyle>
          <a:p/>
        </p:txBody>
      </p:sp>
      <p:sp>
        <p:nvSpPr>
          <p:cNvPr id="117" name="Google Shape;117;p23"/>
          <p:cNvSpPr txBox="1"/>
          <p:nvPr>
            <p:ph idx="3" type="body"/>
          </p:nvPr>
        </p:nvSpPr>
        <p:spPr>
          <a:xfrm>
            <a:off x="4234622" y="2063395"/>
            <a:ext cx="33101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84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9pPr>
          </a:lstStyle>
          <a:p/>
        </p:txBody>
      </p:sp>
      <p:sp>
        <p:nvSpPr>
          <p:cNvPr id="118" name="Google Shape;118;p23"/>
          <p:cNvSpPr txBox="1"/>
          <p:nvPr>
            <p:ph idx="4" type="body"/>
          </p:nvPr>
        </p:nvSpPr>
        <p:spPr>
          <a:xfrm>
            <a:off x="4234621" y="2639658"/>
            <a:ext cx="3310128" cy="2734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2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9pPr>
          </a:lstStyle>
          <a:p/>
        </p:txBody>
      </p:sp>
      <p:sp>
        <p:nvSpPr>
          <p:cNvPr id="119" name="Google Shape;119;p23"/>
          <p:cNvSpPr txBox="1"/>
          <p:nvPr>
            <p:ph idx="5" type="body"/>
          </p:nvPr>
        </p:nvSpPr>
        <p:spPr>
          <a:xfrm>
            <a:off x="7770380" y="2063395"/>
            <a:ext cx="33101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84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9pPr>
          </a:lstStyle>
          <a:p/>
        </p:txBody>
      </p:sp>
      <p:sp>
        <p:nvSpPr>
          <p:cNvPr id="120" name="Google Shape;120;p23"/>
          <p:cNvSpPr txBox="1"/>
          <p:nvPr>
            <p:ph idx="6" type="body"/>
          </p:nvPr>
        </p:nvSpPr>
        <p:spPr>
          <a:xfrm>
            <a:off x="7770380" y="2639658"/>
            <a:ext cx="3310128" cy="2734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2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9pPr>
          </a:lstStyle>
          <a:p/>
        </p:txBody>
      </p:sp>
      <p:sp>
        <p:nvSpPr>
          <p:cNvPr id="121" name="Google Shape;121;p23"/>
          <p:cNvSpPr txBox="1"/>
          <p:nvPr>
            <p:ph idx="10" type="dt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1" type="ftr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képhasáb">
  <p:cSld name="3 képhasáb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Impac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691840" y="3813025"/>
            <a:ext cx="33101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520"/>
              <a:buNone/>
              <a:defRPr b="0" sz="2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9pPr>
          </a:lstStyle>
          <a:p/>
        </p:txBody>
      </p:sp>
      <p:sp>
        <p:nvSpPr>
          <p:cNvPr id="127" name="Google Shape;127;p24"/>
          <p:cNvSpPr/>
          <p:nvPr>
            <p:ph idx="2" type="pic"/>
          </p:nvPr>
        </p:nvSpPr>
        <p:spPr>
          <a:xfrm>
            <a:off x="685780" y="2063395"/>
            <a:ext cx="3310128" cy="1536725"/>
          </a:xfrm>
          <a:prstGeom prst="roundRect">
            <a:avLst>
              <a:gd fmla="val 0" name="adj"/>
            </a:avLst>
          </a:prstGeom>
          <a:noFill/>
          <a:ln cap="flat" cmpd="thinThick" w="57150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28" name="Google Shape;128;p24"/>
          <p:cNvSpPr txBox="1"/>
          <p:nvPr>
            <p:ph idx="3" type="body"/>
          </p:nvPr>
        </p:nvSpPr>
        <p:spPr>
          <a:xfrm>
            <a:off x="691840" y="4389287"/>
            <a:ext cx="3310128" cy="985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2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9pPr>
          </a:lstStyle>
          <a:p/>
        </p:txBody>
      </p:sp>
      <p:sp>
        <p:nvSpPr>
          <p:cNvPr id="129" name="Google Shape;129;p24"/>
          <p:cNvSpPr txBox="1"/>
          <p:nvPr>
            <p:ph idx="4" type="body"/>
          </p:nvPr>
        </p:nvSpPr>
        <p:spPr>
          <a:xfrm>
            <a:off x="4237410" y="3813025"/>
            <a:ext cx="33101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520"/>
              <a:buNone/>
              <a:defRPr b="0" sz="2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9pPr>
          </a:lstStyle>
          <a:p/>
        </p:txBody>
      </p:sp>
      <p:sp>
        <p:nvSpPr>
          <p:cNvPr id="130" name="Google Shape;130;p24"/>
          <p:cNvSpPr/>
          <p:nvPr>
            <p:ph idx="5" type="pic"/>
          </p:nvPr>
        </p:nvSpPr>
        <p:spPr>
          <a:xfrm>
            <a:off x="4235999" y="2063395"/>
            <a:ext cx="3310128" cy="1535237"/>
          </a:xfrm>
          <a:prstGeom prst="roundRect">
            <a:avLst>
              <a:gd fmla="val 0" name="adj"/>
            </a:avLst>
          </a:prstGeom>
          <a:noFill/>
          <a:ln cap="flat" cmpd="thinThick" w="57150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31" name="Google Shape;131;p24"/>
          <p:cNvSpPr txBox="1"/>
          <p:nvPr>
            <p:ph idx="6" type="body"/>
          </p:nvPr>
        </p:nvSpPr>
        <p:spPr>
          <a:xfrm>
            <a:off x="4235999" y="4389286"/>
            <a:ext cx="3310128" cy="9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2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9pPr>
          </a:lstStyle>
          <a:p/>
        </p:txBody>
      </p:sp>
      <p:sp>
        <p:nvSpPr>
          <p:cNvPr id="132" name="Google Shape;132;p24"/>
          <p:cNvSpPr txBox="1"/>
          <p:nvPr>
            <p:ph idx="7" type="body"/>
          </p:nvPr>
        </p:nvSpPr>
        <p:spPr>
          <a:xfrm>
            <a:off x="7768944" y="3813025"/>
            <a:ext cx="33101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520"/>
              <a:buNone/>
              <a:defRPr b="0" sz="2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32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560"/>
              <a:buNone/>
              <a:defRPr b="1" sz="1600"/>
            </a:lvl9pPr>
          </a:lstStyle>
          <a:p/>
        </p:txBody>
      </p:sp>
      <p:sp>
        <p:nvSpPr>
          <p:cNvPr id="133" name="Google Shape;133;p24"/>
          <p:cNvSpPr/>
          <p:nvPr>
            <p:ph idx="8" type="pic"/>
          </p:nvPr>
        </p:nvSpPr>
        <p:spPr>
          <a:xfrm>
            <a:off x="7768819" y="2063394"/>
            <a:ext cx="3310128" cy="1537196"/>
          </a:xfrm>
          <a:prstGeom prst="roundRect">
            <a:avLst>
              <a:gd fmla="val 0" name="adj"/>
            </a:avLst>
          </a:prstGeom>
          <a:noFill/>
          <a:ln cap="flat" cmpd="thinThick" w="57150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34" name="Google Shape;134;p24"/>
          <p:cNvSpPr txBox="1"/>
          <p:nvPr>
            <p:ph idx="9" type="body"/>
          </p:nvPr>
        </p:nvSpPr>
        <p:spPr>
          <a:xfrm>
            <a:off x="7768819" y="4389284"/>
            <a:ext cx="3310128" cy="985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4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2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900"/>
            </a:lvl9pPr>
          </a:lstStyle>
          <a:p/>
        </p:txBody>
      </p:sp>
      <p:sp>
        <p:nvSpPr>
          <p:cNvPr id="135" name="Google Shape;135;p24"/>
          <p:cNvSpPr txBox="1"/>
          <p:nvPr>
            <p:ph idx="10" type="dt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11" type="ftr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2" type="sldNum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függőleges szöveg" type="vertTx">
  <p:cSld name="VERTICAL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Impac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 rot="5400000">
            <a:off x="4227559" y="-1478362"/>
            <a:ext cx="3311190" cy="103947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80"/>
              <a:buChar char="•"/>
              <a:defRPr/>
            </a:lvl1pPr>
            <a:lvl2pPr indent="-41148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2pPr>
            <a:lvl3pPr indent="-41148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3pPr>
            <a:lvl4pPr indent="-41148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4pPr>
            <a:lvl5pPr indent="-41148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5pPr>
            <a:lvl6pPr indent="-41148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6pPr>
            <a:lvl7pPr indent="-41148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7pPr>
            <a:lvl8pPr indent="-41148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8pPr>
            <a:lvl9pPr indent="-41148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9pPr>
          </a:lstStyle>
          <a:p/>
        </p:txBody>
      </p:sp>
      <p:sp>
        <p:nvSpPr>
          <p:cNvPr id="141" name="Google Shape;141;p25"/>
          <p:cNvSpPr txBox="1"/>
          <p:nvPr>
            <p:ph idx="10" type="dt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5"/>
          <p:cNvSpPr txBox="1"/>
          <p:nvPr>
            <p:ph idx="11" type="ftr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5"/>
          <p:cNvSpPr txBox="1"/>
          <p:nvPr>
            <p:ph idx="12" type="sldNum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üggőleges cím és szöveg" type="vertTitleAndTx">
  <p:cSld name="VERTICAL_TITLE_AND_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 rot="5400000">
            <a:off x="7603792" y="1897870"/>
            <a:ext cx="4688785" cy="22646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Impac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 rot="5400000">
            <a:off x="2293623" y="-922023"/>
            <a:ext cx="4688785" cy="79044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148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80"/>
              <a:buChar char="•"/>
              <a:defRPr/>
            </a:lvl1pPr>
            <a:lvl2pPr indent="-41148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2pPr>
            <a:lvl3pPr indent="-41148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3pPr>
            <a:lvl4pPr indent="-41148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4pPr>
            <a:lvl5pPr indent="-41148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5pPr>
            <a:lvl6pPr indent="-41148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6pPr>
            <a:lvl7pPr indent="-41148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7pPr>
            <a:lvl8pPr indent="-41148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8pPr>
            <a:lvl9pPr indent="-41148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80"/>
              <a:buChar char="•"/>
              <a:defRPr/>
            </a:lvl9pPr>
          </a:lstStyle>
          <a:p/>
        </p:txBody>
      </p:sp>
      <p:sp>
        <p:nvSpPr>
          <p:cNvPr id="147" name="Google Shape;147;p26"/>
          <p:cNvSpPr txBox="1"/>
          <p:nvPr>
            <p:ph idx="10" type="dt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6"/>
          <p:cNvSpPr txBox="1"/>
          <p:nvPr>
            <p:ph idx="11" type="ftr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6"/>
          <p:cNvSpPr txBox="1"/>
          <p:nvPr>
            <p:ph idx="12" type="sldNum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1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ickwork-HD-R1a.jpg" id="6" name="Google Shape;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7;p8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>
          <p:nvSpPr>
            <p:cNvPr id="8" name="Google Shape;8;p8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98425" rotWithShape="0" algn="tl" dir="4380000" dist="76200">
                <a:srgbClr val="000000">
                  <a:alpha val="6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;p8"/>
            <p:cNvSpPr/>
            <p:nvPr/>
          </p:nvSpPr>
          <p:spPr>
            <a:xfrm>
              <a:off x="-25397" y="0"/>
              <a:ext cx="11773291" cy="6419514"/>
            </a:xfrm>
            <a:custGeom>
              <a:rect b="b" l="l" r="r" t="t"/>
              <a:pathLst>
                <a:path extrusionOk="0" h="6419514" w="11773291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cap="flat" cmpd="sng" w="82550">
              <a:solidFill>
                <a:srgbClr val="7F7F7F"/>
              </a:solidFill>
              <a:prstDash val="solid"/>
              <a:miter lim="80"/>
              <a:headEnd len="sm" w="sm" type="none"/>
              <a:tailEnd len="sm" w="sm" type="none"/>
            </a:ln>
          </p:spPr>
        </p:sp>
        <p:sp>
          <p:nvSpPr>
            <p:cNvPr id="10" name="Google Shape;10;p8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4000">
                  <a:schemeClr val="accent1"/>
                </a:gs>
                <a:gs pos="100000">
                  <a:srgbClr val="5C0707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" name="Google Shape;11;p8"/>
          <p:cNvSpPr txBox="1"/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Impact"/>
              <a:buNone/>
              <a:defRPr b="0" i="0" sz="5400" u="none" cap="none" strike="noStrike">
                <a:solidFill>
                  <a:schemeClr val="accen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" type="body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-41148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-39116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-37084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-37084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-37084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-37084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-37084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-37084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0" type="dt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1" type="ftr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15" name="Google Shape;15;p8"/>
          <p:cNvSpPr txBox="1"/>
          <p:nvPr>
            <p:ph idx="12" type="sldNum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5C0707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"/>
          <p:cNvSpPr txBox="1"/>
          <p:nvPr>
            <p:ph type="ctrTitle"/>
          </p:nvPr>
        </p:nvSpPr>
        <p:spPr>
          <a:xfrm rot="-180000">
            <a:off x="891201" y="662656"/>
            <a:ext cx="9755187" cy="27665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Impact"/>
              <a:buNone/>
            </a:pPr>
            <a:r>
              <a:rPr lang="hu-HU"/>
              <a:t>AUTÓKERESKEDÉS WEBPROJECT</a:t>
            </a:r>
            <a:endParaRPr/>
          </a:p>
        </p:txBody>
      </p:sp>
      <p:sp>
        <p:nvSpPr>
          <p:cNvPr id="155" name="Google Shape;155;p1"/>
          <p:cNvSpPr txBox="1"/>
          <p:nvPr>
            <p:ph idx="1" type="subTitle"/>
          </p:nvPr>
        </p:nvSpPr>
        <p:spPr>
          <a:xfrm rot="-180000">
            <a:off x="3052110" y="3316229"/>
            <a:ext cx="7710137" cy="550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480"/>
              <a:buNone/>
            </a:pPr>
            <a:r>
              <a:rPr lang="hu-HU"/>
              <a:t>RÉSZTVEVŐK: KOLIMÁR KRISTÓF, NAGY-TÓTH RICHÁRD &amp; TAVASZI LILIÁNA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"/>
          <p:cNvSpPr txBox="1"/>
          <p:nvPr>
            <p:ph type="title"/>
          </p:nvPr>
        </p:nvSpPr>
        <p:spPr>
          <a:xfrm>
            <a:off x="0" y="0"/>
            <a:ext cx="11662500" cy="18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Impact"/>
              <a:buNone/>
            </a:pPr>
            <a:r>
              <a:rPr lang="hu-HU"/>
              <a:t>PROJEKT TÉMÁJA</a:t>
            </a:r>
            <a:endParaRPr/>
          </a:p>
        </p:txBody>
      </p:sp>
      <p:sp>
        <p:nvSpPr>
          <p:cNvPr id="161" name="Google Shape;161;p2"/>
          <p:cNvSpPr txBox="1"/>
          <p:nvPr/>
        </p:nvSpPr>
        <p:spPr>
          <a:xfrm>
            <a:off x="0" y="1837775"/>
            <a:ext cx="118029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hu-HU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Egy olyan autówebshop megvalósítása ami: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hu-HU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Könnyen kezelhető minden felhasználó számára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hu-HU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Nemcsak értékesítésre/vásárlásra alkalmas, hanem állapotfelmérésben, finanszírozásban és beszámításban is segítséget nyújt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hu-HU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Minden információt kimutat az adott járművel kapcsolatban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hu-HU" sz="1800" u="none" cap="none" strike="noStrik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Fel tudja venni a versenyt a modern weboldalak stílusával, dizájnjával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1ac653c9fd7d25b5_1_4"/>
          <p:cNvSpPr txBox="1"/>
          <p:nvPr>
            <p:ph type="title"/>
          </p:nvPr>
        </p:nvSpPr>
        <p:spPr>
          <a:xfrm>
            <a:off x="0" y="0"/>
            <a:ext cx="11726400" cy="2063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OLDALAK BEMUTATÁSA - FŐOLDAL</a:t>
            </a:r>
            <a:endParaRPr/>
          </a:p>
        </p:txBody>
      </p:sp>
      <p:sp>
        <p:nvSpPr>
          <p:cNvPr id="167" name="Google Shape;167;h1ac653c9fd7d25b5_1_4"/>
          <p:cNvSpPr txBox="1"/>
          <p:nvPr>
            <p:ph idx="1" type="body"/>
          </p:nvPr>
        </p:nvSpPr>
        <p:spPr>
          <a:xfrm>
            <a:off x="0" y="2063400"/>
            <a:ext cx="11726400" cy="435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❖"/>
            </a:pPr>
            <a:r>
              <a:rPr lang="hu-HU" sz="1800"/>
              <a:t>Bootstrap  </a:t>
            </a:r>
            <a:r>
              <a:rPr lang="hu-HU" sz="1800"/>
              <a:t>használata</a:t>
            </a:r>
            <a:r>
              <a:rPr lang="hu-HU" sz="1800"/>
              <a:t>, többek között a </a:t>
            </a:r>
            <a:r>
              <a:rPr i="1" lang="hu-HU" sz="1800"/>
              <a:t>grid </a:t>
            </a:r>
            <a:r>
              <a:rPr lang="hu-HU" sz="1800"/>
              <a:t>rendszerhez és a </a:t>
            </a:r>
            <a:r>
              <a:rPr i="1" lang="hu-HU" sz="1800"/>
              <a:t>reszponzív </a:t>
            </a:r>
            <a:r>
              <a:rPr lang="hu-HU" sz="1800"/>
              <a:t>elrendezéshez</a:t>
            </a:r>
            <a:endParaRPr sz="18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Impact"/>
              <a:buChar char="❖"/>
            </a:pPr>
            <a:r>
              <a:rPr lang="hu-HU" sz="1800"/>
              <a:t>Flexbox</a:t>
            </a:r>
            <a:r>
              <a:rPr lang="hu-HU" sz="1800"/>
              <a:t> használata, a </a:t>
            </a:r>
            <a:r>
              <a:rPr i="1" lang="hu-HU" sz="1800"/>
              <a:t>flex-wrap</a:t>
            </a:r>
            <a:r>
              <a:rPr lang="hu-HU" sz="1800"/>
              <a:t> miatt kisebb képernyőn a kártyák új sorba tudnak kerülni.</a:t>
            </a:r>
            <a:endParaRPr sz="18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hu-HU" sz="1800"/>
              <a:t>CSS animációt is alkalmazása. A kiemelt autó kártyája finoman mozog a </a:t>
            </a:r>
            <a:r>
              <a:rPr i="1" lang="hu-HU" sz="1800"/>
              <a:t>ease-in-out infinite  </a:t>
            </a:r>
            <a:r>
              <a:rPr lang="hu-HU" sz="1800"/>
              <a:t>segítségével</a:t>
            </a:r>
            <a:endParaRPr sz="18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hu-HU" sz="1800"/>
              <a:t>Reszponzivitás </a:t>
            </a:r>
            <a:r>
              <a:rPr lang="hu-HU" sz="1800"/>
              <a:t>biztosítva</a:t>
            </a:r>
            <a:endParaRPr sz="1800"/>
          </a:p>
        </p:txBody>
      </p:sp>
      <p:pic>
        <p:nvPicPr>
          <p:cNvPr id="168" name="Google Shape;168;h1ac653c9fd7d25b5_1_4" title="Főoldal_kívül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8725" y="3121225"/>
            <a:ext cx="3335426" cy="139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h1ac653c9fd7d25b5_1_4"/>
          <p:cNvSpPr txBox="1"/>
          <p:nvPr/>
        </p:nvSpPr>
        <p:spPr>
          <a:xfrm>
            <a:off x="7409700" y="3236150"/>
            <a:ext cx="11748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7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Bevezető</a:t>
            </a:r>
            <a:endParaRPr sz="170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70" name="Google Shape;170;h1ac653c9fd7d25b5_1_4" title="HTML_főold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39300" y="4513275"/>
            <a:ext cx="2950974" cy="1710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h1ac653c9fd7d25b5_1_4" title="CSS_főoldal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5900" y="4513275"/>
            <a:ext cx="2203400" cy="190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/>
          <p:nvPr>
            <p:ph type="title"/>
          </p:nvPr>
        </p:nvSpPr>
        <p:spPr>
          <a:xfrm>
            <a:off x="0" y="0"/>
            <a:ext cx="11726400" cy="19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Impact"/>
              <a:buNone/>
            </a:pPr>
            <a:r>
              <a:rPr lang="hu-HU"/>
              <a:t>OLDALAK BEMUTATÁSA – ŰRLAP(HTML+CSS)</a:t>
            </a:r>
            <a:endParaRPr/>
          </a:p>
        </p:txBody>
      </p:sp>
      <p:sp>
        <p:nvSpPr>
          <p:cNvPr id="177" name="Google Shape;177;p4"/>
          <p:cNvSpPr txBox="1"/>
          <p:nvPr>
            <p:ph idx="1" type="body"/>
          </p:nvPr>
        </p:nvSpPr>
        <p:spPr>
          <a:xfrm>
            <a:off x="0" y="1971825"/>
            <a:ext cx="12192000" cy="4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973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380"/>
              <a:buChar char="❖"/>
            </a:pPr>
            <a:r>
              <a:rPr lang="hu-HU" sz="1700"/>
              <a:t>Űrlap HTML-je megágyaz a Javascript működésére, kivéve a típusok,az egy szimpl legördülő lista</a:t>
            </a:r>
            <a:endParaRPr sz="1700"/>
          </a:p>
          <a:p>
            <a:pPr indent="-37973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380"/>
              <a:buChar char="❖"/>
            </a:pPr>
            <a:r>
              <a:rPr lang="hu-HU" sz="1700"/>
              <a:t>Sokszor használunk </a:t>
            </a:r>
            <a:r>
              <a:rPr i="1" lang="hu-HU" sz="1700"/>
              <a:t>required</a:t>
            </a:r>
            <a:r>
              <a:rPr lang="hu-HU" sz="1700"/>
              <a:t>-t, így kötelezővé tesszük az adott mezőt kitöltését</a:t>
            </a:r>
            <a:endParaRPr sz="1700"/>
          </a:p>
          <a:p>
            <a:pPr indent="-37973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380"/>
              <a:buChar char="❖"/>
            </a:pPr>
            <a:r>
              <a:rPr lang="hu-HU" sz="1700"/>
              <a:t>A css-nél használtunk flexbox-t és grid-et is, mellette különböző színeket is</a:t>
            </a:r>
            <a:endParaRPr sz="1700"/>
          </a:p>
          <a:p>
            <a:pPr indent="-37973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380"/>
              <a:buChar char="❖"/>
            </a:pPr>
            <a:r>
              <a:rPr lang="hu-HU" sz="1700"/>
              <a:t>Oszlopokban és sorokban elrendeztük a kitöltésre váró mezőket</a:t>
            </a:r>
            <a:endParaRPr sz="1700"/>
          </a:p>
          <a:p>
            <a:pPr indent="-37973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380"/>
              <a:buChar char="❖"/>
            </a:pPr>
            <a:r>
              <a:rPr lang="hu-HU" sz="1700"/>
              <a:t>Reszponzivitás biztosítva</a:t>
            </a:r>
            <a:endParaRPr sz="1700"/>
          </a:p>
          <a:p>
            <a:pPr indent="0" lvl="0" marL="203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78" name="Google Shape;178;p4" title="Képernyőkép 2026-09-27 22130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7150" y="4010500"/>
            <a:ext cx="2738950" cy="239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4" title="Képernyőkép 2026-09-27 22151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4325" y="4058988"/>
            <a:ext cx="3206799" cy="2301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4" title="Képernyőkép 2026-09-27 22170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3087" y="1677575"/>
            <a:ext cx="2567075" cy="22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 txBox="1"/>
          <p:nvPr>
            <p:ph type="title"/>
          </p:nvPr>
        </p:nvSpPr>
        <p:spPr>
          <a:xfrm>
            <a:off x="0" y="-55125"/>
            <a:ext cx="11747700" cy="20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Impact"/>
              <a:buNone/>
            </a:pPr>
            <a:r>
              <a:rPr lang="hu-HU"/>
              <a:t>OLDALAK BEMUTATÁSA – ŰRLAP(JAVASCRIPT)</a:t>
            </a:r>
            <a:endParaRPr/>
          </a:p>
        </p:txBody>
      </p:sp>
      <p:sp>
        <p:nvSpPr>
          <p:cNvPr id="186" name="Google Shape;186;p5"/>
          <p:cNvSpPr txBox="1"/>
          <p:nvPr>
            <p:ph idx="1" type="body"/>
          </p:nvPr>
        </p:nvSpPr>
        <p:spPr>
          <a:xfrm>
            <a:off x="0" y="1984600"/>
            <a:ext cx="11747700" cy="44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hu-HU" sz="2200"/>
              <a:t>Van: évjárat,költségkeret,,üzemanyag stb.</a:t>
            </a:r>
            <a:endParaRPr sz="2200"/>
          </a:p>
          <a:p>
            <a:pPr indent="-3746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hu-HU" sz="2300"/>
              <a:t>Üzemanyag-választás:</a:t>
            </a:r>
            <a:endParaRPr sz="2300"/>
          </a:p>
          <a:p>
            <a:pPr indent="-3619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hu-HU" sz="2100"/>
              <a:t>Ha elektromos - akkumulátor</a:t>
            </a:r>
            <a:endParaRPr sz="2100"/>
          </a:p>
          <a:p>
            <a:pPr indent="-3619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hu-HU" sz="2100"/>
              <a:t>Ha nem elektromos - hengerűrtartalom.</a:t>
            </a:r>
            <a:endParaRPr sz="21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80"/>
              <a:buNone/>
            </a:pPr>
            <a:r>
              <a:rPr lang="hu-HU" sz="2300"/>
              <a:t>Dátumvalidáció :</a:t>
            </a:r>
            <a:endParaRPr sz="2300"/>
          </a:p>
          <a:p>
            <a:pPr indent="-3619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hu-HU" sz="2100"/>
              <a:t>minimum = mai nap </a:t>
            </a:r>
            <a:endParaRPr sz="2100"/>
          </a:p>
          <a:p>
            <a:pPr indent="-3619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hu-HU" sz="2100"/>
              <a:t>maximum = mai nap+egy év múlva</a:t>
            </a:r>
            <a:endParaRPr sz="21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87" name="Google Shape;187;p5" title="Képernyőkép 2026-09-27 20192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1773" y="2024000"/>
            <a:ext cx="2985876" cy="1892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5" title="Képernyőkép 2026-09-27 20220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49893" y="3956325"/>
            <a:ext cx="2421131" cy="24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 txBox="1"/>
          <p:nvPr>
            <p:ph type="title"/>
          </p:nvPr>
        </p:nvSpPr>
        <p:spPr>
          <a:xfrm>
            <a:off x="0" y="-1"/>
            <a:ext cx="11700900" cy="20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Impact"/>
              <a:buNone/>
            </a:pPr>
            <a:r>
              <a:rPr lang="hu-HU"/>
              <a:t>OLDALAK BEMUTATÁSA – EREDMÉNYEK(HTML+CSS)</a:t>
            </a:r>
            <a:endParaRPr/>
          </a:p>
        </p:txBody>
      </p:sp>
      <p:sp>
        <p:nvSpPr>
          <p:cNvPr id="194" name="Google Shape;194;p6"/>
          <p:cNvSpPr txBox="1"/>
          <p:nvPr>
            <p:ph idx="1" type="body"/>
          </p:nvPr>
        </p:nvSpPr>
        <p:spPr>
          <a:xfrm>
            <a:off x="0" y="2035700"/>
            <a:ext cx="11700900" cy="4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608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80"/>
              <a:buChar char="❖"/>
            </a:pPr>
            <a:r>
              <a:rPr lang="hu-HU"/>
              <a:t>Az űrlapot importáltuk és a get segítségével fog működni a javascript is</a:t>
            </a:r>
            <a:endParaRPr/>
          </a:p>
          <a:p>
            <a:pPr indent="-38608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80"/>
              <a:buChar char="❖"/>
            </a:pPr>
            <a:r>
              <a:rPr lang="hu-HU"/>
              <a:t>Itt jelenik meg a beküldött űrlapok</a:t>
            </a:r>
            <a:endParaRPr/>
          </a:p>
          <a:p>
            <a:pPr indent="-38608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80"/>
              <a:buChar char="❖"/>
            </a:pPr>
            <a:r>
              <a:rPr lang="hu-HU"/>
              <a:t>Reszponzivitás itt is biztosítva van</a:t>
            </a:r>
            <a:endParaRPr/>
          </a:p>
          <a:p>
            <a:pPr indent="-38608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80"/>
              <a:buChar char="❖"/>
            </a:pPr>
            <a:r>
              <a:rPr lang="hu-HU"/>
              <a:t>Az </a:t>
            </a:r>
            <a:r>
              <a:rPr i="1" lang="hu-HU"/>
              <a:t>onclick </a:t>
            </a:r>
            <a:r>
              <a:rPr lang="hu-HU"/>
              <a:t>segítségével lehet törölni az adatokat</a:t>
            </a:r>
            <a:endParaRPr/>
          </a:p>
        </p:txBody>
      </p:sp>
      <p:pic>
        <p:nvPicPr>
          <p:cNvPr id="195" name="Google Shape;195;p6" title="Képernyőkép 2026-09-27 22214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2100" y="3648450"/>
            <a:ext cx="2528800" cy="271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6" title="Képernyőkép 2026-09-27 222347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3300" y="1845550"/>
            <a:ext cx="2804674" cy="17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6" title="Képernyőkép 2026-09-27 222458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6850" y="4079625"/>
            <a:ext cx="4742449" cy="228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"/>
          <p:cNvSpPr txBox="1"/>
          <p:nvPr>
            <p:ph type="title"/>
          </p:nvPr>
        </p:nvSpPr>
        <p:spPr>
          <a:xfrm>
            <a:off x="0" y="-58750"/>
            <a:ext cx="11739000" cy="18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Impact"/>
              <a:buNone/>
            </a:pPr>
            <a:r>
              <a:rPr lang="hu-HU"/>
              <a:t>OLDALAK BEMUTATÁSA – EREDMÉNYEK(JAVASCRIPT)</a:t>
            </a:r>
            <a:endParaRPr/>
          </a:p>
        </p:txBody>
      </p:sp>
      <p:sp>
        <p:nvSpPr>
          <p:cNvPr id="203" name="Google Shape;203;p7"/>
          <p:cNvSpPr txBox="1"/>
          <p:nvPr>
            <p:ph idx="1" type="body"/>
          </p:nvPr>
        </p:nvSpPr>
        <p:spPr>
          <a:xfrm>
            <a:off x="0" y="1767500"/>
            <a:ext cx="11790000" cy="47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hu-HU" sz="1800"/>
              <a:t>Eredményoldal : Az űrlap GET metódussal küldi el az adatokat az eredményoldalnak. </a:t>
            </a:r>
            <a:endParaRPr sz="18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hu-HU" sz="1800"/>
              <a:t>A JavaScript a URL paramétereiből kiolvassa az adatokat az </a:t>
            </a:r>
            <a:r>
              <a:rPr i="1" lang="hu-HU" sz="1800"/>
              <a:t>URLSearchParams </a:t>
            </a:r>
            <a:r>
              <a:rPr lang="hu-HU" sz="1800"/>
              <a:t>segítségével, majd megjeleníti őket az oldalon.</a:t>
            </a:r>
            <a:endParaRPr sz="18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❖"/>
            </a:pPr>
            <a:r>
              <a:rPr lang="hu-HU" sz="1800"/>
              <a:t>A törlés függvénye egyszerűen megváltoztattja üresre az eddig kitöltöttünk</a:t>
            </a:r>
            <a:endParaRPr sz="1800"/>
          </a:p>
        </p:txBody>
      </p:sp>
      <p:pic>
        <p:nvPicPr>
          <p:cNvPr id="204" name="Google Shape;204;p7" title="Képernyőkép 2026-09-27 21053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4275" y="2438675"/>
            <a:ext cx="2413625" cy="406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47ac104994d7c23d_1_30"/>
          <p:cNvSpPr txBox="1"/>
          <p:nvPr>
            <p:ph type="title"/>
          </p:nvPr>
        </p:nvSpPr>
        <p:spPr>
          <a:xfrm>
            <a:off x="-61300" y="68975"/>
            <a:ext cx="12017400" cy="23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/>
              <a:t>Köszönjük a figyelmet!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ő esemény">
  <a:themeElements>
    <a:clrScheme name="Fő esemény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2026-09-25T11:01:32Z</dcterms:created>
  <dc:creator>Tavaszi Liliána</dc:creator>
</cp:coreProperties>
</file>